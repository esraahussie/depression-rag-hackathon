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— 10 seconds.</a:t>
            </a:r>
          </a:p>
          <a:p>
            <a:r>
              <a:t>We built MindCare: a clinical RAG assistant for depression. It answers only from official NICE, WHO, and USPSTF guidelines — and it is designed so the LLM cannot invent medical facts.</a:t>
            </a:r>
          </a:p>
          <a:p>
            <a:r>
              <a:t>احنا عملنا MindCare: مساعد طبي بيرد من الإرشادات الرسمية بس، ومن غير تخمين.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— 50–60 seconds. Speak as 'we'.</a:t>
            </a:r>
          </a:p>
          <a:p/>
          <a:p>
            <a:r>
              <a:t>The problem in one sentence: depression guidelines are official, long, and English — and a general LLM will invent an answer if you ask it anyway.</a:t>
            </a:r>
          </a:p>
          <a:p/>
          <a:p>
            <a:r>
              <a:t>Medical value: safer, cited answers from NICE / WHO / USPSTF. Operational value: Arabic, screening tools, and a refuse-to-answer path so the system never bluffs.</a:t>
            </a:r>
          </a:p>
          <a:p/>
          <a:p>
            <a:r>
              <a:t>This is a clinical decision-support product, not a therapy chatbot.</a:t>
            </a:r>
          </a:p>
          <a:p/>
          <a:p>
            <a:r>
              <a:t>بالعربي: المشكلة إن الإرشادات الرسمية طويلة، والـ LLM العادي بيختلق معلومات طبية. احنا بنحل ده بمساعد بيرد من الدليل بس، ولو مش متأكد بيرفض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— 45 seconds.</a:t>
            </a:r>
          </a:p>
          <a:p/>
          <a:p>
            <a:r>
              <a:t>We did not scrape the internet. We ingested 12 official PDFs: NICE (including adult treatment NG222 and children NG134), WHO EMRO, and USPSTF screening recommendations.</a:t>
            </a:r>
          </a:p>
          <a:p/>
          <a:p>
            <a:r>
              <a:t>Pipeline: extract page text → clean NICE footers, URLs, citation noise → recursive chunking (1000 characters, 150 overlap, drop tiny headers) → attach metadata: source file, page number, chunk index, public URL.</a:t>
            </a:r>
          </a:p>
          <a:p/>
          <a:p>
            <a:r>
              <a:t>Result: 848 chunks in Chroma + BM25, cached so the demo starts in seconds.</a:t>
            </a:r>
          </a:p>
          <a:p/>
          <a:p>
            <a:r>
              <a:t>بالعربي: بدأنا من الـ PDF الرسمي، نضفناه، قطعناه chunks، وكل chunk ماشي معاه اسم الملف ورقم الصفحة واللينك.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— 45 seconds.</a:t>
            </a:r>
          </a:p>
          <a:p/>
          <a:p>
            <a:r>
              <a:t>When the user asks a question, we do not send it straight to the LLM.</a:t>
            </a:r>
          </a:p>
          <a:p>
            <a:r>
              <a:t>Arabic questions are translated to English for retrieval, then:</a:t>
            </a:r>
          </a:p>
          <a:p>
            <a:r>
              <a:t>1) BM25 keyword search — good for drug names and instrument names.</a:t>
            </a:r>
          </a:p>
          <a:p>
            <a:r>
              <a:t>2) Semantic search with all-MiniLM-L6-v2 in Chroma — good for paraphrases.</a:t>
            </a:r>
          </a:p>
          <a:p>
            <a:r>
              <a:t>3) Reciprocal Rank Fusion merges the two lists.</a:t>
            </a:r>
          </a:p>
          <a:p>
            <a:r>
              <a:t>4) A cross-encoder reranks the fused candidates.</a:t>
            </a:r>
          </a:p>
          <a:p>
            <a:r>
              <a:t>5) We keep the top 5 chunks as the evidence pack.</a:t>
            </a:r>
          </a:p>
          <a:p/>
          <a:p>
            <a:r>
              <a:t>Only then is generation allowed.</a:t>
            </a:r>
          </a:p>
          <a:p/>
          <a:p>
            <a:r>
              <a:t>بالعربي: السيستم بيدور في الدليل بطريقتين — كلمات مفتاحية ومعنى — وبعدين يدمجهم ويعمل rerank، وبعدين يدي الـ LLM الدليل بس.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— 70–80 seconds. This is the slide the jury asked for. Slow down.</a:t>
            </a:r>
          </a:p>
          <a:p/>
          <a:p>
            <a:r>
              <a:t>Six locks, in order:</a:t>
            </a:r>
          </a:p>
          <a:p>
            <a:r>
              <a:t>1. Prompt: answer ONLY from numbered passages. Temperature 0.</a:t>
            </a:r>
          </a:p>
          <a:p>
            <a:r>
              <a:t>2. After generation we validate citations. Fake [7] when only [1]–[5] exist is deleted.</a:t>
            </a:r>
          </a:p>
          <a:p>
            <a:r>
              <a:t>3. Guardrail threshold: rerank score &gt;= 2.0 or we do not generate.</a:t>
            </a:r>
          </a:p>
          <a:p>
            <a:r>
              <a:t>4. Off-topic → out_of_scope, empty sources, confidence 0.</a:t>
            </a:r>
          </a:p>
          <a:p>
            <a:r>
              <a:t>5. Mental-health question but weak chunks → insufficient evidence, not a guessed answer.</a:t>
            </a:r>
          </a:p>
          <a:p>
            <a:r>
              <a:t>6. Every surviving claim is shown with PDF, page, chunk, and official URL.</a:t>
            </a:r>
          </a:p>
          <a:p/>
          <a:p>
            <a:r>
              <a:t>If the LLM produces no valid citation, we fall back to an extractive snippet from the top chunk — still cited.</a:t>
            </a:r>
          </a:p>
          <a:p/>
          <a:p>
            <a:r>
              <a:t>النقطة الأهم: الـ LLM مش حر. لو evidenc مش كفاية أو السؤال برة النطاق، السيستم بيرفض. والإجابة المتدعمة بتتحط معاها رقم الصفحة والمصدر.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— 20 seconds, then pause so the jury can read.</a:t>
            </a:r>
          </a:p>
          <a:p/>
          <a:p>
            <a:r>
              <a:t>This is the product contract: every sentence has a [n], each [n] maps to a real PDF page, and the UI can open the official guideline.</a:t>
            </a:r>
          </a:p>
          <a:p>
            <a:r>
              <a:t>Invalid citations are removed in code, not by asking the model to behave.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— 25 seconds on metrics, then SPEAKER A/operator opens the UI.</a:t>
            </a:r>
          </a:p>
          <a:p/>
          <a:p>
            <a:r>
              <a:t>We evaluate with Precision@k and Recall@k on held-out clinical queries, plus an out-of-scope check against the rerank guardrail (threshold 2.0).</a:t>
            </a:r>
          </a:p>
          <a:p>
            <a:r>
              <a:t>Confidence is a formula on retrieval signals, not a model opinion.</a:t>
            </a:r>
          </a:p>
          <a:p/>
          <a:p>
            <a:r>
              <a:t>Run `python main.py --eval` before the stage so you can quote the latest Precision@5 / Recall@5 if asked.</a:t>
            </a:r>
          </a:p>
          <a:p/>
          <a:p>
            <a:r>
              <a:t>Then: 'Let us show it live.' Stop talking. Click the browser.</a:t>
            </a:r>
          </a:p>
          <a:p/>
          <a:p>
            <a:r>
              <a:t>لو اللجنة سألت على الأرقام: احنا بنقيس Recall و Precision على مصادر الـ PDF المتوقعة، والـ guardrail بيتأكد إن السؤال اللي برة النطاق مايرجعش 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— skip if time is tight. Use in Q&amp;A.</a:t>
            </a:r>
          </a:p>
          <a:p/>
          <a:p>
            <a:r>
              <a:t>Architecture is modular Python services + FastAPI + React. Bonus features the brief asked for: clean structure, responsive UI, voice, extra clinical screens.</a:t>
            </a:r>
          </a:p>
          <a:p>
            <a:r>
              <a:t>Business: this can sit in a clinic or helpline as a cited copilot — it does not replace a doctor.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— 10 seconds.</a:t>
            </a:r>
          </a:p>
          <a:p>
            <a:r>
              <a:t>Close on the contract: retrieve, cite, or refuse.</a:t>
            </a:r>
          </a:p>
          <a:p>
            <a:r>
              <a:t>Hand the room to the jury. Do not keep talking.</a:t>
            </a:r>
          </a:p>
          <a:p>
            <a:r>
              <a:t>Laptop stays on the chat screen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1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  <a:ea typeface="Segoe UI"/>
              </a:rPr>
              <a:t>ODC  ·  MENTAL HEALTH  ·  CLINICAL RAG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  <a:ea typeface="Segoe UI"/>
              </a:rPr>
              <a:t>MindCare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CBD5E1"/>
                </a:solidFill>
                <a:latin typeface="Calibri"/>
                <a:ea typeface="Segoe UI"/>
              </a:rPr>
              <a:t>An evidence-grounded clinical assistant for depression.
Answers only from official guidelines — never from guesswork.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CFBF1"/>
                </a:solidFill>
                <a:latin typeface="Segoe UI"/>
                <a:ea typeface="Segoe UI"/>
              </a:rPr>
              <a:t>مساعد طبي مبني على الأدلة — بيرد من إرشادات NICE و WHO و USPSTF فقط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2423160" cy="438912"/>
          </a:xfrm>
          <a:prstGeom prst="roundRect">
            <a:avLst/>
          </a:prstGeom>
          <a:solidFill>
            <a:srgbClr val="114B4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2423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12 official PDFs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069080"/>
            <a:ext cx="2423160" cy="438912"/>
          </a:xfrm>
          <a:prstGeom prst="roundRect">
            <a:avLst/>
          </a:prstGeom>
          <a:solidFill>
            <a:srgbClr val="114B4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069080"/>
            <a:ext cx="2423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848 cited chunks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4069080"/>
            <a:ext cx="2423160" cy="438912"/>
          </a:xfrm>
          <a:prstGeom prst="roundRect">
            <a:avLst/>
          </a:prstGeom>
          <a:solidFill>
            <a:srgbClr val="114B4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4069080"/>
            <a:ext cx="2423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Zero-hallucination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08192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  <a:ea typeface="Segoe UI"/>
              </a:rPr>
              <a:t>5-minute pitch  →  live demo  →  discussion     ·     We speak as a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108192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0" i="0">
                <a:solidFill>
                  <a:srgbClr val="CCFBF1"/>
                </a:solidFill>
                <a:latin typeface="Calibri"/>
                <a:ea typeface="Segoe UI"/>
              </a:rPr>
              <a:t>Slide 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01  ·  PROBLEM DEFINITION  ·  ~1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  <a:ea typeface="Segoe UI"/>
              </a:rPr>
              <a:t>Clinicians cannot safely ask a general LLM about depression.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44168"/>
            <a:ext cx="51755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Guidelines exist — they are not usable at the bedside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55064"/>
            <a:ext cx="5175504" cy="905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NICE, WHO and USPSTF publish hundreds of pages. A doctor, nurse, or caregiver cannot search them in seconds while a patient is waiting.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5486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98648"/>
            <a:ext cx="51755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Generic AI invents medical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09544"/>
            <a:ext cx="5175504" cy="905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ChatGPT-style models guess dosages, mix adult and child pathways, and cite pages that do not exist. In mental health, hallucination is a safety failure — not a UX bug.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54864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73152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453128"/>
            <a:ext cx="51755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Language and access gap in Egypt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64024"/>
            <a:ext cx="5175504" cy="10424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Most official evidence is English. Patients and junior staff need Egyptian Arabic, screening tools, and a refusal when the question is outside clinical scope.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234440"/>
            <a:ext cx="557784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55778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98448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Segoe UI"/>
              </a:rPr>
              <a:t>What we built — medical + operational value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39112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965960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Segoe UI"/>
              </a:rPr>
              <a:t>Medical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03704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Every answer is grounded in retrieved guideline text with page-level citations.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788920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715768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Segoe UI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53511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If evidence is weak or the question is off-topic, MindCare refuses to answer.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538727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465575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Segoe UI"/>
              </a:rPr>
              <a:t>Clinical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03320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PHQ-9, GAD-7 and EPDS screening → then ask the guideline about that score.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288536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15383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Segoe UI"/>
              </a:rPr>
              <a:t>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53127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Bilingual UI (English + المصري), voice in/out, FastAPI + React, ready to demo.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503834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965192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Segoe UI"/>
              </a:rPr>
              <a:t>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202936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A decision-support layer for clinics, hotlines, and digital mental-health programs — not a chatbot that plays doctor.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02  ·  DATA INGESTION &amp;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  <a:ea typeface="Segoe UI"/>
              </a:rPr>
              <a:t>We start from official PDFs — not from the open web.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  <a:ea typeface="Segoe UI"/>
              </a:rPr>
              <a:t>NICE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NG222 · NG134
QS8 · QS48 · CG91
Adults, children, chronic illness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15568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15568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6187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  <a:ea typeface="Segoe UI"/>
              </a:rPr>
              <a:t>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EMRO clinical guides
Depression factsheets
Regional mental-health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15568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15568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6187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  <a:ea typeface="Segoe UI"/>
              </a:rPr>
              <a:t>USPSTF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572768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Depression &amp; suicide screening
Anxiety · perinatal
Adults and young people</a:t>
            </a:r>
          </a:p>
        </p:txBody>
      </p:sp>
      <p:sp>
        <p:nvSpPr>
          <p:cNvPr id="18" name="Chevron 17"/>
          <p:cNvSpPr/>
          <p:nvPr/>
        </p:nvSpPr>
        <p:spPr>
          <a:xfrm>
            <a:off x="365760" y="2788920"/>
            <a:ext cx="2331720" cy="105156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852928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1. 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163824"/>
            <a:ext cx="1965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CFBF1"/>
                </a:solidFill>
                <a:latin typeface="Calibri"/>
                <a:ea typeface="Segoe UI"/>
              </a:rPr>
              <a:t>pdfplumber
page by page</a:t>
            </a:r>
          </a:p>
        </p:txBody>
      </p:sp>
      <p:sp>
        <p:nvSpPr>
          <p:cNvPr id="21" name="Chevron 20"/>
          <p:cNvSpPr/>
          <p:nvPr/>
        </p:nvSpPr>
        <p:spPr>
          <a:xfrm>
            <a:off x="2697480" y="2788920"/>
            <a:ext cx="2331720" cy="105156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2852928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2.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163824"/>
            <a:ext cx="1965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CFBF1"/>
                </a:solidFill>
                <a:latin typeface="Calibri"/>
                <a:ea typeface="Segoe UI"/>
              </a:rPr>
              <a:t>headers, footers
URLs, boilerplate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5029200" y="2788920"/>
            <a:ext cx="2331720" cy="105156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2852928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3. Chunk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163824"/>
            <a:ext cx="1965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CFBF1"/>
                </a:solidFill>
                <a:latin typeface="Calibri"/>
                <a:ea typeface="Segoe UI"/>
              </a:rPr>
              <a:t>1000 chars
150 overlap</a:t>
            </a:r>
          </a:p>
        </p:txBody>
      </p:sp>
      <p:sp>
        <p:nvSpPr>
          <p:cNvPr id="27" name="Chevron 26"/>
          <p:cNvSpPr/>
          <p:nvPr/>
        </p:nvSpPr>
        <p:spPr>
          <a:xfrm>
            <a:off x="7360920" y="2788920"/>
            <a:ext cx="2331720" cy="105156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2852928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4.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3163824"/>
            <a:ext cx="1965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CFBF1"/>
                </a:solidFill>
                <a:latin typeface="Calibri"/>
                <a:ea typeface="Segoe UI"/>
              </a:rPr>
              <a:t>PDF · page · chunk
public source URL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788920"/>
            <a:ext cx="2148840" cy="1051560"/>
          </a:xfrm>
          <a:prstGeom prst="roundRect">
            <a:avLst/>
          </a:prstGeom>
          <a:solidFill>
            <a:srgbClr val="11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8" y="2852928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Segoe UI"/>
              </a:rPr>
              <a:t>5.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8" y="3163824"/>
            <a:ext cx="1965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CFBF1"/>
                </a:solidFill>
                <a:latin typeface="Calibri"/>
                <a:ea typeface="Segoe UI"/>
              </a:rPr>
              <a:t>MiniLM vectors
+ BM25 keywords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274320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297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F766E"/>
                </a:solidFill>
                <a:latin typeface="Calibri"/>
                <a:ea typeface="Segoe U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9834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official PDFs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114800"/>
            <a:ext cx="274320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4297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F766E"/>
                </a:solidFill>
                <a:latin typeface="Calibri"/>
                <a:ea typeface="Segoe UI"/>
              </a:rPr>
              <a:t>848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9834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evidence chunks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114800"/>
            <a:ext cx="274320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297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F766E"/>
                </a:solidFill>
                <a:latin typeface="Calibri"/>
                <a:ea typeface="Segoe UI"/>
              </a:rPr>
              <a:t>page + URL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9834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on every chunk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4114800"/>
            <a:ext cx="274320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4297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F766E"/>
                </a:solidFill>
                <a:latin typeface="Calibri"/>
                <a:ea typeface="Segoe UI"/>
              </a:rPr>
              <a:t>cached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9834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index rebuilds once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03  ·  RETRIEVAL &amp; EVIDENCE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  <a:ea typeface="Segoe UI"/>
              </a:rPr>
              <a:t>The LLM never searches. Retrieval finds the evidence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928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109728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User question  →  (Arabic is translated for search)  →  hybrid retriever  →  ranked evidence chunks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39496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94960" cy="4389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Segoe UI"/>
              </a:rPr>
              <a:t>Keyword path  ·  BM25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0292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Catches exact clinical terms: PHQ-9, fluoxetine, NG222, lithium, screening.
Top 50 candidates from the lexical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39496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5394960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19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Segoe UI"/>
              </a:rPr>
              <a:t>Semantic path  ·  MiniLM + Chroma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50292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Catches paraphrases: “feeling hopeless” ≈ diagnostic symptoms.
Top 50 nearest chunks in vector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39"/>
            <a:ext cx="365760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  <a:ea typeface="Segoe UI"/>
              </a:rPr>
              <a:t>RRF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Chunks found by BOTH paths rise. Reciprocal Rank Fusion, k = 60.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977639"/>
            <a:ext cx="365760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1148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  <a:ea typeface="Segoe UI"/>
              </a:rPr>
              <a:t>Cross-encoder rerank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6344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ms-marco MiniLM scores “does this passage actually answer this question?”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77639"/>
            <a:ext cx="365760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114800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  <a:ea typeface="Segoe UI"/>
              </a:rPr>
              <a:t>Top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63440"/>
            <a:ext cx="3291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Return the best 5 chunks, with source + page, before any generation.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65176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04  ·  HALLUCINATION PREVENTION &amp; CITATIONS   ·   MOST 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  <a:ea typeface="Segoe UI"/>
              </a:rPr>
              <a:t>The model is not allowed to invent. If it tries, we strip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361188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361188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1  Grounded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19072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Temperature 0. Every claim must use a provided [n]. No outside knowledge. If passages are weak, say 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005840"/>
            <a:ext cx="361188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611880" cy="731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207008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2  Citation firewall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719072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We delete any [n] that was not in the retrieved set. Invented page numbers never reach the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005840"/>
            <a:ext cx="361188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005840"/>
            <a:ext cx="361188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207008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3  Relevance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1719072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Cross-encoder score must clear 2.0. Below that: refuse. Weak but on-topic: “insufficient evidence”.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46120"/>
            <a:ext cx="361188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246120"/>
            <a:ext cx="361188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447288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4  Out-of-scope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59352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Off-topic questions (capital cities, recipes, code) return no answer. Confidence = 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46120"/>
            <a:ext cx="361188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246120"/>
            <a:ext cx="3611880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3447288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5  Objective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959352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Score comes from retrieval + citation coverage — never from the LLM saying “I am sure”.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46120"/>
            <a:ext cx="3611880" cy="205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324612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3447288"/>
            <a:ext cx="3291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  <a:ea typeface="Segoe UI"/>
              </a:rPr>
              <a:t>6  Page-level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3959352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UI shows PDF name, page, chunk, relevance, and a link to the official guideline.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04B  ·  WHAT THE JURY WILL SEE ON EVERY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  <a:ea typeface="Segoe UI"/>
              </a:rPr>
              <a:t>Evidence in. Citations out. Nothing in between is trusted.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7040880" cy="4892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704088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52144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Segoe UI"/>
              </a:rPr>
              <a:t>Answer  ·  status: supported  ·  confidence 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65836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  <a:ea typeface="Segoe UI"/>
              </a:rPr>
              <a:t>NICE recommends a stepped-care approach for adults with depression, matching treatment intensity to severity. [1]
For moderate depression this can include psychological therapy and, where indicated, antidepressant medication with monitoring. [1][2]
Screening instruments such as PHQ-9 are used to assess severity in clinical settings. 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6583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  <a:ea typeface="Segoe UI"/>
              </a:rPr>
              <a:t>Citation firewall in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6583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LLM output:  “…as stated in [9] …”   →   [9] is not in the source index.
We drop [9]. The sentence is either recast onto a valid ID, or the extractive fallback is used.
The user never sees a fake guideline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097280"/>
            <a:ext cx="40233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9560" y="1298448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298448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Segoe UI"/>
              </a:rPr>
              <a:t>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298448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  <a:ea typeface="Segoe UI"/>
              </a:rPr>
              <a:t>Treatment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664207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NG222  ·  page 48  ·  chunk 12
Open official guideline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2651760"/>
            <a:ext cx="40233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09560" y="285292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852928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Segoe UI"/>
              </a:rPr>
              <a:t>[2]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52928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  <a:ea typeface="Segoe UI"/>
              </a:rPr>
              <a:t>WHO Clinical Depression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18688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WHO EMRO  ·  page 7  ·  chunk 3
Open official guideline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4206240"/>
            <a:ext cx="40233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09560" y="4407407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407407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Segoe UI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07407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  <a:ea typeface="Segoe UI"/>
              </a:rPr>
              <a:t>Suicide Risk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773168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  <a:ea typeface="Segoe UI"/>
              </a:rPr>
              <a:t>USPSTF adults  ·  page 4  ·  chunk 2
Open official guideline 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05  ·  EVALUATION  ·  THEN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  <a:ea typeface="Segoe UI"/>
              </a:rPr>
              <a:t>We measure retrieval, then we prove it on the Web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278892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  <a:ea typeface="Segoe UI"/>
              </a:rPr>
              <a:t>Recall@5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146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Segoe UI"/>
              </a:rPr>
              <a:t>Did the right guideline appear in the top 5 chunks?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  <a:ea typeface="Segoe UI"/>
              </a:rPr>
              <a:t>TEST_QUERIES
source-level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97280"/>
            <a:ext cx="278892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344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  <a:ea typeface="Segoe UI"/>
              </a:rPr>
              <a:t>Precision@k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83080"/>
            <a:ext cx="25146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Segoe UI"/>
              </a:rPr>
              <a:t>Of the top 1 / 3 / 5, how many are from the expected PDF?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  <a:ea typeface="Segoe UI"/>
              </a:rPr>
              <a:t>k = 1, 3,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97280"/>
            <a:ext cx="278892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  <a:ea typeface="Segoe UI"/>
              </a:rPr>
              <a:t>Guardrail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25146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Segoe UI"/>
              </a:rPr>
              <a:t>Rerank threshold = 2.0
Off-topic must return 0 hits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  <a:ea typeface="Segoe UI"/>
              </a:rPr>
              <a:t>out_of_scope =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097280"/>
            <a:ext cx="2788920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2344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  <a:ea typeface="Segoe UI"/>
              </a:rPr>
              <a:t>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25146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  <a:ea typeface="Segoe UI"/>
              </a:rPr>
              <a:t>35% top score · 25% cited avg
15% agreement · 15% grounding · 10%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10896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  <a:ea typeface="Segoe UI"/>
              </a:rPr>
              <a:t>never LLM self-score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160520"/>
            <a:ext cx="11384280" cy="1874519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7939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CFBF1"/>
                </a:solidFill>
                <a:latin typeface="Calibri"/>
                <a:ea typeface="Segoe UI"/>
              </a:rPr>
              <a:t>Live demo — laptop operator, do not go back to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  <a:ea typeface="Segoe UI"/>
              </a:rPr>
              <a:t>1) On-topic:  “What treatments does NICE recommend for moderate depression in adults?”   →  citations + pages
2) Out of scope:  “What is the capital of France?”   →  refusal, confidence 0
3) Arabic + voice:  “إيه أعراض الاكتئاب؟”   →  Egyptian Arabic answer with the same sources
4) Screening:  PHQ-9 score  →  “Ask the guideline about this score”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  <a:ea typeface="Segoe UI"/>
              </a:rPr>
              <a:t>BONUS  ·  PRODUCT, ARCHITECTURE, EXTRAS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  <a:ea typeface="Segoe UI"/>
              </a:rPr>
              <a:t>A real service — not a notebook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36118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91440" cy="1965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8016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  <a:ea typeface="Segoe UI"/>
              </a:rPr>
              <a:t>Clean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830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ingest · retrieval · relevance · generation · citations · confidence · FastAPI  /api/chat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097280"/>
            <a:ext cx="36118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097280"/>
            <a:ext cx="91440" cy="19659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28016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  <a:ea typeface="Segoe UI"/>
              </a:rPr>
              <a:t>Responsive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7830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React + Vite. Desktop sidebar, mobile nav, EN / المصري toggle, RTL.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097280"/>
            <a:ext cx="36118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097280"/>
            <a:ext cx="91440" cy="1965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28016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  <a:ea typeface="Segoe UI"/>
              </a:rPr>
              <a:t>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7830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Speech-to-text questions and read-aloud answers (Arabic Egyptian + English).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46120"/>
            <a:ext cx="36118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246120"/>
            <a:ext cx="91440" cy="1965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290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  <a:ea typeface="Segoe UI"/>
              </a:rPr>
              <a:t>Screening trio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93192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PHQ-9, GAD-7, EPDS with crisis alert, then one-click guideline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46120"/>
            <a:ext cx="36118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246120"/>
            <a:ext cx="91440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34290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  <a:ea typeface="Segoe UI"/>
              </a:rPr>
              <a:t>Business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93192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Clinics, university counseling, national helplines: faster, cited, bilingual support.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46120"/>
            <a:ext cx="36118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3246120"/>
            <a:ext cx="91440" cy="1965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34290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  <a:ea typeface="Segoe UI"/>
              </a:rPr>
              <a:t>Career-ready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93192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  <a:ea typeface="Segoe UI"/>
              </a:rPr>
              <a:t>Separation of concerns, cached indexes, evaluation harness, production-shaped API.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MindCare  ·  Evidence-grounded clinical RAG  ·  ODC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  <a:ea typeface="Segoe UI"/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Segoe UI"/>
              </a:rPr>
              <a:t>MindCare does not guess.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  <a:ea typeface="Segoe UI"/>
              </a:rPr>
              <a:t>It retrieves official evidence, cites the page, and stays silent when the evidence is not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CCFBF1"/>
                </a:solidFill>
                <a:latin typeface="Segoe UI"/>
                <a:ea typeface="Segoe UI"/>
              </a:rPr>
              <a:t>الدليل الأول. التخمين صفر.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0881360" cy="1234440"/>
          </a:xfrm>
          <a:prstGeom prst="roundRect">
            <a:avLst/>
          </a:prstGeom>
          <a:solidFill>
            <a:srgbClr val="11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0424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Segoe UI"/>
              </a:rPr>
              <a:t>Thank you  ·  We are ready for questions
Problem  →  Ingestion  →  Retrieval  →  Anti-hallucination  →  Evaluation &amp;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  <a:ea typeface="Segoe UI"/>
              </a:rPr>
              <a:t>ODC Hackathon  ·  Clinical RAG for depression  ·  Team MindCare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